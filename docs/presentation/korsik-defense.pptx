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c5284d6d2e4dc3" /><Relationship Type="http://schemas.openxmlformats.org/officeDocument/2006/relationships/extended-properties" Target="/docProps/app.xml" Id="R2b24a1dadfc9488d" /><Relationship Type="http://schemas.openxmlformats.org/officeDocument/2006/relationships/officeDocument" Target="/ppt/presentation.xml" Id="R3767c7f204254b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66c0a11d94df2"/>
  </p:sldMasterIdLst>
  <p:notesMasterIdLst>
    <p:notesMasterId xmlns:r="http://schemas.openxmlformats.org/officeDocument/2006/relationships" r:id="R8ba79e4a68b24ef3"/>
  </p:notesMasterIdLst>
  <p:sldIdLst>
    <p:sldId xmlns:r="http://schemas.openxmlformats.org/officeDocument/2006/relationships" id="256" r:id="R8b466777261947d1"/>
    <p:sldId xmlns:r="http://schemas.openxmlformats.org/officeDocument/2006/relationships" id="257" r:id="Rb77edfa195984591"/>
    <p:sldId xmlns:r="http://schemas.openxmlformats.org/officeDocument/2006/relationships" id="258" r:id="R8021325a20594852"/>
    <p:sldId xmlns:r="http://schemas.openxmlformats.org/officeDocument/2006/relationships" id="259" r:id="R32c513d4fee14e96"/>
    <p:sldId xmlns:r="http://schemas.openxmlformats.org/officeDocument/2006/relationships" id="260" r:id="Reaee5d82e488493b"/>
    <p:sldId xmlns:r="http://schemas.openxmlformats.org/officeDocument/2006/relationships" id="261" r:id="R0701fad10b894ccf"/>
    <p:sldId xmlns:r="http://schemas.openxmlformats.org/officeDocument/2006/relationships" id="262" r:id="R03f30283b83a4f2c"/>
    <p:sldId xmlns:r="http://schemas.openxmlformats.org/officeDocument/2006/relationships" id="263" r:id="R338d769ec07e4c5a"/>
    <p:sldId xmlns:r="http://schemas.openxmlformats.org/officeDocument/2006/relationships" id="264" r:id="R6b1e73cc2d924be1"/>
    <p:sldId xmlns:r="http://schemas.openxmlformats.org/officeDocument/2006/relationships" id="265" r:id="Ra38e8ef84e3045a3"/>
    <p:sldId xmlns:r="http://schemas.openxmlformats.org/officeDocument/2006/relationships" id="266" r:id="R827ace3da07a45ab"/>
    <p:sldId xmlns:r="http://schemas.openxmlformats.org/officeDocument/2006/relationships" id="267" r:id="Rda9c0d79b3eb45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35c79b0154d16" /><Relationship Type="http://schemas.openxmlformats.org/officeDocument/2006/relationships/slideMaster" Target="/ppt/slideMasters/slideMaster1.xml" Id="Rba166c0a11d94df2" /><Relationship Type="http://schemas.openxmlformats.org/officeDocument/2006/relationships/notesMaster" Target="/ppt/notesMasters/notesMaster1.xml" Id="R8ba79e4a68b24ef3" /><Relationship Type="http://schemas.openxmlformats.org/officeDocument/2006/relationships/presProps" Target="/ppt/presProps.xml" Id="Rc978ed115be348a3" /><Relationship Type="http://schemas.openxmlformats.org/officeDocument/2006/relationships/tableStyles" Target="/ppt/tableStyles.xml" Id="Rdfb80a813bd34fd4" /><Relationship Type="http://schemas.openxmlformats.org/officeDocument/2006/relationships/slide" Target="/ppt/slides/slide1.xml" Id="R8b466777261947d1" /><Relationship Type="http://schemas.openxmlformats.org/officeDocument/2006/relationships/slide" Target="/ppt/slides/slide2.xml" Id="Rb77edfa195984591" /><Relationship Type="http://schemas.openxmlformats.org/officeDocument/2006/relationships/slide" Target="/ppt/slides/slide3.xml" Id="R8021325a20594852" /><Relationship Type="http://schemas.openxmlformats.org/officeDocument/2006/relationships/slide" Target="/ppt/slides/slide4.xml" Id="R32c513d4fee14e96" /><Relationship Type="http://schemas.openxmlformats.org/officeDocument/2006/relationships/slide" Target="/ppt/slides/slide5.xml" Id="Reaee5d82e488493b" /><Relationship Type="http://schemas.openxmlformats.org/officeDocument/2006/relationships/slide" Target="/ppt/slides/slide6.xml" Id="R0701fad10b894ccf" /><Relationship Type="http://schemas.openxmlformats.org/officeDocument/2006/relationships/slide" Target="/ppt/slides/slide7.xml" Id="R03f30283b83a4f2c" /><Relationship Type="http://schemas.openxmlformats.org/officeDocument/2006/relationships/slide" Target="/ppt/slides/slide8.xml" Id="R338d769ec07e4c5a" /><Relationship Type="http://schemas.openxmlformats.org/officeDocument/2006/relationships/slide" Target="/ppt/slides/slide9.xml" Id="R6b1e73cc2d924be1" /><Relationship Type="http://schemas.openxmlformats.org/officeDocument/2006/relationships/slide" Target="/ppt/slides/slide10.xml" Id="Ra38e8ef84e3045a3" /><Relationship Type="http://schemas.openxmlformats.org/officeDocument/2006/relationships/slide" Target="/ppt/slides/slide11.xml" Id="R827ace3da07a45ab" /><Relationship Type="http://schemas.openxmlformats.org/officeDocument/2006/relationships/slide" Target="/ppt/slides/slide12.xml" Id="Rda9c0d79b3eb45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8b5dc79b0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3a6f2fb0c43da" /><Relationship Type="http://schemas.openxmlformats.org/officeDocument/2006/relationships/notesMaster" Target="/ppt/notesMasters/notesMaster1.xml" Id="R359f214bf76141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a8381c3cc4359" /><Relationship Type="http://schemas.openxmlformats.org/officeDocument/2006/relationships/notesMaster" Target="/ppt/notesMasters/notesMaster1.xml" Id="Ra860fd5eceeb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9bbed3620f4a1c" /><Relationship Type="http://schemas.openxmlformats.org/officeDocument/2006/relationships/notesMaster" Target="/ppt/notesMasters/notesMaster1.xml" Id="R146f8e2222de4e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a1bbbaedbd466f" /><Relationship Type="http://schemas.openxmlformats.org/officeDocument/2006/relationships/notesMaster" Target="/ppt/notesMasters/notesMaster1.xml" Id="R26edc26baa0842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3b61dd2f54807" /><Relationship Type="http://schemas.openxmlformats.org/officeDocument/2006/relationships/notesMaster" Target="/ppt/notesMasters/notesMaster1.xml" Id="R3bf40683c09441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08d21c3f554df1" /><Relationship Type="http://schemas.openxmlformats.org/officeDocument/2006/relationships/notesMaster" Target="/ppt/notesMasters/notesMaster1.xml" Id="R39a8a9c6c62c48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b5c20468b74828" /><Relationship Type="http://schemas.openxmlformats.org/officeDocument/2006/relationships/notesMaster" Target="/ppt/notesMasters/notesMaster1.xml" Id="Ra76c5913d99342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b1fdd380d74b4b" /><Relationship Type="http://schemas.openxmlformats.org/officeDocument/2006/relationships/notesMaster" Target="/ppt/notesMasters/notesMaster1.xml" Id="R6283e5bb57f74a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a7d1d17fd42fb" /><Relationship Type="http://schemas.openxmlformats.org/officeDocument/2006/relationships/notesMaster" Target="/ppt/notesMasters/notesMaster1.xml" Id="R7ede4b4c10344e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e2dcd268ce4a8e" /><Relationship Type="http://schemas.openxmlformats.org/officeDocument/2006/relationships/notesMaster" Target="/ppt/notesMasters/notesMaster1.xml" Id="R7f2b59156d0f4c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3fea86f765461f" /><Relationship Type="http://schemas.openxmlformats.org/officeDocument/2006/relationships/notesMaster" Target="/ppt/notesMasters/notesMaster1.xml" Id="R05cf69b9320c40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c26c08951a4b0c" /><Relationship Type="http://schemas.openxmlformats.org/officeDocument/2006/relationships/notesMaster" Target="/ppt/notesMasters/notesMaster1.xml" Id="Ra847838adabb41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10 секунд. Корсик помогает новичку пройти адаптацию: подсказывает следующий шаг, отвечает по документам и связывает с HR. Покажем работающий MVP и границы, которые нужно закрыть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20 секунд. Новичку нужно понять, что делать сейчас, где искать правила и к кому обратиться с проблемой. HR важно вовремя заметить затруднения, а руководителю помочь своим сотрудникам. Наша гипотеза: сценарий в чате и ответы с источником сократят повторные вопросы. Размер эффекта измерим на пилоте.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https://github.com/RafaelPozoyan/hack_mosprom/blob/084e896703148fea138a35785e3102eb4edb9798/docs/research.md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85 секунд. Показать встроенный демо-чат: старт, выбор обращения на ты или вы, шаг сценария, вопрос по документам и ответ с цитатой, затем обращение к HR и ответ в тот же чат. При недоступности стенда включить korsik-demo.mp4 из релиза v0.1.0 вместо живого показа, не в дополнение. Ссылка для команды: https://github.com/RafaelPozoyan/hack_mosprom/releases/tag/v0.1.0. Видео находится в приватном репозитории, публичный доступ для жюри ещё надо подготовить. На снимке синтетический сотрудник и тестовый диалог локального стенда. Реальная доставка MAX здесь не проверяется.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локальный демо-стенд, 24.10.2026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25 секунд. Поиск сначала проверяет уверенность. Модель выписывает цитаты, после этого решает, можно ли ответить. Код сверяет цитаты с документом и проверяет числа, даты, адреса и ссылки. Если проверка не проходит, предлагает помощь HR. Это не гарантия истинности: неверный пересказ настоящей цитаты и числа словами могут пройти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https://github.com/RafaelPozoyan/hack_mosprom/blob/084e896703148fea138a35785e3102eb4edb9798/backend/app/rag/answer.py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30 секунд. В сохранённом сквозном прогоне получили 29 верных ответов на 30 вопросов по базе. На 12 вопросов вне базы бот отказался отвечать. В предыдущем прогоне верных было 26 из 30, поэтому результат нельзя выдавать за стабильную гарантию. Среднее время по всем 42 вопросам составило 30,5 секунды на Ryzen 9 5900X без GPU. Сегодня этот замер заново не запускали. Порог подбирали на этом же небольшом наборе, для пилота нужен независимый набор вопросов. Воспроизведение: cd backend &amp;&amp; uv run python eval/run_eval.py --e2e.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https://github.com/RafaelPozoyan/hack_mosprom/blob/084e896703148fea138a35785e3102eb4edb9798/backend/eval/results.md; https://github.com/RafaelPozoyan/hack_mosprom/blob/084e896703148fea138a35785e3102eb4edb9798/README.md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15 секунд. HR видит обращение и может помочь. Руководитель получает рекомендации по своим новичкам, но не свободные ответы и не жалобы на себя. Ограничение проверяет сервер. При этом вход в панель пока общий: корпоративный вход и персональные роли остаются планом перед пилотом.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https://github.com/RafaelPozoyan/hack_mosprom/blob/084e896703148fea138a35785e3102eb4edb9798/backend/app/api/admin.py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20 секунд. Панель и канал MAX используют один движок диалога. Планировщик ведёт сотрудника по сценарию, PostgreSQL хранит состояние и документы. Поиск и генерацию можно развернуть локально через Docker Compose. Внешняя часть остаётся: сообщения идут через мессенджер MAX. Поэтому не заявляем, что абсолютно все данные никогда не покидают сервер компании.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https://github.com/RafaelPozoyan/hack_mosprom/blob/084e896703148fea138a35785e3102eb4edb9798/docker-compose.yml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20 секунд. Мы не заявляем экономию часов или денег без пилота. По сохранённому замеру для локального ИИ-контура требовалось около 15 гигабайт оперативной памяти. Это сумма потребления сервисов во время eval, а не гарантия достаточности такой машины для нагрузки. В затраты также войдут сервер, эксплуатация, актуализация документов и работа HR. Денежную оценку подготовим после замера на инфраструктуре заказчика.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https://github.com/RafaelPozoyan/hack_mosprom/blob/084e896703148fea138a35785e3102eb4edb9798/README.md, раздел «Ресурсы на CPU»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15 секунд. Предлагаем согласовать с заказчиком группу новичков и владельца базы знаний. Сначала измерить текущие повторные вопросы и время HR, затем наблюдать те же показатели с Корсиком. Качество проверять на новых вопросах, которые не использовались для настройки. Целевые значения и срок пилота нужно согласовать с заказчиком, сейчас их не придумываем.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https://github.com/RafaelPozoyan/hack_mosprom/blob/084e896703148fea138a35785e3102eb4edb9798/docs/research.md; предложение команды для обсуждения, не проведённый пилот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25 секунд. Первая задача перед пилотом: персональный доступ и проверка интеграции MAX. Следом надёжная доставка: сохранять входящие события до подтверждения, исключать повторную обработку и восстанавливать очередь после перезапуска. Затем миграции базы, проверка восстановления из резервной копии и замеры на целевой машине. Это план работ, а не готовые возможности.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https://github.com/RafaelPozoyan/hack_mosprom/blob/084e896703148fea138a35785e3102eb4edb9798/backend/app/main.py; https://github.com/RafaelPozoyan/hack_mosprom/blob/084e896703148fea138a35785e3102eb4edb9798/backend/app/scheduler.py; https://github.com/RafaelPozoyan/hack_mosprom/blob/084e896703148fea138a35785e3102eb4edb9798/backend/app/db.py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15 секунд. Команда использовала Claude Code и Codex при разработке и подготовке материалов. Ответственность за архитектуру, проверку и итоговое решение остаётся у команды. В продукте используются модели с открытыми весами и инструменты локального распознавания. Тексты сценария взяты из технического задания, изображения в текущем MVP являются шаблонами. Раскрытие соответствует требованию п. 4.3.3–4.3.4, как оно зафиксировано в AGENTS.md.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https://github.com/RafaelPozoyan/hack_mosprom/blob/084e896703148fea138a35785e3102eb4edb9798/README.md#использование-ии-п-433434-положения; https://github.com/RafaelPozoyan/hack_mosprom/blob/084e896703148fea138a35785e3102eb4edb9798/AGENTS.md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План: 20 секунд. Сегодня можно показать сценарий адаптации, ответы по документам и передачу вопроса HR в одном чате. До производственного пилота остаются живой MAX, персональный доступ и надёжность доставки. Предлагаем согласовать пилот, подтвердить качество на новых вопросах и измерить реальную нагрузку HR. Полный план выступления: 300 секунд, включая 85 секунд демонстрации. Это план тайминга, человеческая репетиция с секундомером ещё требуется.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https://github.com/RafaelPozoyan/hack_mosprom/blob/084e896703148fea138a35785e3102eb4edb9798/README.md; предложение пилота, не утверждённый план заказчика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afc21bd5147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5063d69f248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cb24abc82e48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5490868044b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12394240241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064af053e44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AE61BA-DA90-4A13-870F-7347EBE44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E3B141-0BC4-406C-88A0-42E75EFEBE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BF14CD-10E8-47EA-9182-AC399CE77E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556FA4-DF18-486A-B186-B8FD3AC12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93BC59-D423-4EAD-A8DD-E36DA9026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B9A84D-AAFD-4967-92AD-C8EE3FB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F41CD-8C3A-4630-B5E1-133D5D2480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B4556C-FBD8-4B20-BA9C-C2D8375181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7F00A4-63F8-4132-B94F-0AD802D7F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3825F3-4D4F-4022-AED8-564470D99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e587dd1174c7f" /><Relationship Type="http://schemas.openxmlformats.org/officeDocument/2006/relationships/slideLayout" Target="/ppt/slideLayouts/slideLayout1.xml" Id="R125652b5a2ab4dee" /><Relationship Type="http://schemas.openxmlformats.org/officeDocument/2006/relationships/slideLayout" Target="/ppt/slideLayouts/slideLayout2.xml" Id="Rbe86f4d9d4c7440b" /><Relationship Type="http://schemas.openxmlformats.org/officeDocument/2006/relationships/slideLayout" Target="/ppt/slideLayouts/slideLayout3.xml" Id="Rae74e0c676a44c17" /><Relationship Type="http://schemas.openxmlformats.org/officeDocument/2006/relationships/slideLayout" Target="/ppt/slideLayouts/slideLayout4.xml" Id="R091e096055f54ae1" /><Relationship Type="http://schemas.openxmlformats.org/officeDocument/2006/relationships/slideLayout" Target="/ppt/slideLayouts/slideLayout5.xml" Id="Rda5a553e7381454a" /><Relationship Type="http://schemas.openxmlformats.org/officeDocument/2006/relationships/slideLayout" Target="/ppt/slideLayouts/slideLayout6.xml" Id="R90fdb667ea8a4f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652b5a2ab4dee"/>
    <p:sldLayoutId xmlns:r="http://schemas.openxmlformats.org/officeDocument/2006/relationships" id="2147483650" r:id="Rbe86f4d9d4c7440b"/>
    <p:sldLayoutId xmlns:r="http://schemas.openxmlformats.org/officeDocument/2006/relationships" id="2147483651" r:id="Rae74e0c676a44c17"/>
    <p:sldLayoutId xmlns:r="http://schemas.openxmlformats.org/officeDocument/2006/relationships" id="2147483652" r:id="R091e096055f54ae1"/>
    <p:sldLayoutId xmlns:r="http://schemas.openxmlformats.org/officeDocument/2006/relationships" id="2147483653" r:id="Rda5a553e7381454a"/>
    <p:sldLayoutId xmlns:r="http://schemas.openxmlformats.org/officeDocument/2006/relationships" id="2147483654" r:id="R90fdb667ea8a4f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487324c4e4dbb" /><Relationship Type="http://schemas.openxmlformats.org/officeDocument/2006/relationships/notesSlide" Target="/ppt/notesSlides/notesSlide1.xml" Id="Rc0d62cb2439b46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2dc9bf7694b63" /><Relationship Type="http://schemas.openxmlformats.org/officeDocument/2006/relationships/notesSlide" Target="/ppt/notesSlides/notesSlide2.xml" Id="Rf202078a6696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b676bd44b4345" /><Relationship Type="http://schemas.openxmlformats.org/officeDocument/2006/relationships/image" Target="/ppt/media/image.jpeg" Id="R583f9bb0d4ea4096" /><Relationship Type="http://schemas.openxmlformats.org/officeDocument/2006/relationships/notesSlide" Target="/ppt/notesSlides/notesSlide3.xml" Id="Rab2d603c01164b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0f1be4a374e3f" /><Relationship Type="http://schemas.openxmlformats.org/officeDocument/2006/relationships/notesSlide" Target="/ppt/notesSlides/notesSlide4.xml" Id="R16f8e0877000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1d69c9ebf4097" /><Relationship Type="http://schemas.openxmlformats.org/officeDocument/2006/relationships/notesSlide" Target="/ppt/notesSlides/notesSlide5.xml" Id="Rd0e51a3125ba4e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38ecd896a4950" /><Relationship Type="http://schemas.openxmlformats.org/officeDocument/2006/relationships/notesSlide" Target="/ppt/notesSlides/notesSlide6.xml" Id="Rfdaa3f10255340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cc35cfffb44b2" /><Relationship Type="http://schemas.openxmlformats.org/officeDocument/2006/relationships/notesSlide" Target="/ppt/notesSlides/notesSlide7.xml" Id="Rb75125bdc9c444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6268170ba427f" /><Relationship Type="http://schemas.openxmlformats.org/officeDocument/2006/relationships/notesSlide" Target="/ppt/notesSlides/notesSlide8.xml" Id="R559964a6a2c841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5c60d7ee949f4" /><Relationship Type="http://schemas.openxmlformats.org/officeDocument/2006/relationships/notesSlide" Target="/ppt/notesSlides/notesSlide9.xml" Id="R8d3c8edcc62742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2be429e4642e2" /><Relationship Type="http://schemas.openxmlformats.org/officeDocument/2006/relationships/notesSlide" Target="/ppt/notesSlides/notesSlide10.xml" Id="R7a43c8fde09a45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d4cf609004df7" /><Relationship Type="http://schemas.openxmlformats.org/officeDocument/2006/relationships/notesSlide" Target="/ppt/notesSlides/notesSlide11.xml" Id="Ra4ac6828550542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e2c13606d4564" /><Relationship Type="http://schemas.openxmlformats.org/officeDocument/2006/relationships/notesSlide" Target="/ppt/notesSlides/notesSlide12.xml" Id="R8e7a13fd8c974b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562DA-EAC2-4324-88D2-0F9812D6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CE39"/>
                </a:solidFill>
                <a:latin typeface="Arial"/>
                <a:ea typeface="Arial"/>
                <a:cs typeface="Arial"/>
              </a:rPr>
              <a:t>АДАПТАЦИЯ НОВИЧКОВ В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8A4F4-FBE6-4D59-8C65-E06B8A39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E39"/>
                </a:solidFill>
                <a:latin typeface="Arial"/>
                <a:ea typeface="Arial"/>
                <a:cs typeface="Arial"/>
              </a:rPr>
              <a:t>КОРСИК   / 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8EE9F-0873-4F19-823B-3694C2F5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Корсик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6213-095A-438D-B24A-06831F30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defPPr>
            <a:lvl1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1pPr>
            <a:lvl2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2pPr>
            <a:lvl3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3pPr>
            <a:lvl4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4pPr>
            <a:lvl5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5pPr>
            <a:lvl6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6pPr>
            <a:lvl7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7pPr>
            <a:lvl8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8pPr>
            <a:lvl9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A6CE39"/>
                </a:solidFill>
                <a:latin typeface="Arial"/>
                <a:ea typeface="Arial"/>
                <a:cs typeface="Arial"/>
              </a:rPr>
              <a:t>Помощь новичку</a:t>
            </a:r>
          </a:p>
          <a:p xmlns:a="http://schemas.openxmlformats.org/drawingml/2006/main">
            <a:pPr>
              <a:defRPr sz="3750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3750" b="0">
                <a:solidFill>
                  <a:srgbClr val="A6CE39"/>
                </a:solidFill>
                <a:latin typeface="Arial"/>
                <a:ea typeface="Arial"/>
                <a:cs typeface="Arial"/>
              </a:rPr>
              <a:t>в привычном чате</a:t>
            </a:r>
          </a:p>
        </p:txBody>
      </p:sp>
    </p:spTree>
    <p:extLst>
      <p:ext uri="{BB962C8B-B14F-4D97-AF65-F5344CB8AC3E}">
        <p14:creationId xmlns:p14="http://schemas.microsoft.com/office/powerpoint/2010/main" val="15724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2CD70-81BF-4AD6-B255-A253314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ЗАДАЧА ЗАКАЗЧИКА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E8BE4-D2F2-419F-B631-66F58060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Первые месяцы в компании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DCC19-F0F1-41A6-94DF-0EEAE63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6C3D3-8B37-4CF2-97FC-49B117C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8059B-DC46-4B37-948B-B3452651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717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Новичку нужен понятный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7A296-B896-4ECA-A033-6B3A83EC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28900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До выхода на работу и в течение адаптации.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5CC77-CA43-40C4-B181-011D67D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9A3EC-1ED7-42B9-845E-627D6D9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66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HR нужны обращения, требующие внимания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4FCED-345F-4048-B136-F6950E05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33825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Вопросы без ответа и сигналы из опросов в одной панели.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C84EA-F358-4B12-92A5-A4D8548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Гипотеза: меньше повторных вопросов к HR. Эффект пока не измерен.</a:t>
            </a:r>
          </a:p>
        </p:txBody>
      </p:sp>
    </p:spTree>
    <p:extLst>
      <p:ext uri="{BB962C8B-B14F-4D97-AF65-F5344CB8AC3E}">
        <p14:creationId xmlns:p14="http://schemas.microsoft.com/office/powerpoint/2010/main" val="1800649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440F7-DDC7-40AE-B52E-2CD6475F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60444-2180-41BF-AC75-BEB5BB1B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От вопроса до ответа HR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68EF3-14E2-4165-95E9-A26311F2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18720-F26D-44C0-94A4-8D3289FC5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f9bb0d4ea4096"/>
          <a:stretch xmlns:a="http://schemas.openxmlformats.org/drawingml/2006/main"/>
        </p:blipFill>
        <p:spPr>
          <a:xfrm xmlns:a="http://schemas.openxmlformats.org/drawingml/2006/main">
            <a:off x="609600" y="2058591"/>
            <a:ext cx="6381750" cy="39885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3968E-84CE-4366-AB1E-71E84E85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404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Новичок пишет в чат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74629-45AD-4F1B-930B-F83A99F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404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HR отвечает там же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F65E2-54B2-468B-8EF5-E0675639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4048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Демо-данные вымышлены.</a:t>
            </a:r>
          </a:p>
          <a:p xmlns:a="http://schemas.openxmlformats.org/drawingml/2006/main">
            <a: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Живой MAX ждёт токен.</a:t>
            </a:r>
          </a:p>
        </p:txBody>
      </p:sp>
    </p:spTree>
    <p:extLst>
      <p:ext uri="{BB962C8B-B14F-4D97-AF65-F5344CB8AC3E}">
        <p14:creationId xmlns:p14="http://schemas.microsoft.com/office/powerpoint/2010/main" val="1350045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67EF9-985C-4838-AF4D-C1A6F318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F0D76-F3FE-42E0-ABC9-C69DDB86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Проверка ответа по документам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8F86D-DFB3-4B38-801A-5B0BDCE0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CCB8B-06A8-4DA4-AD43-15EFA6D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52CB5-6A01-4A5D-9ECA-73CE4889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33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2E3A"/>
                </a:solidFill>
                <a:latin typeface="Arial"/>
                <a:ea typeface="Arial"/>
                <a:cs typeface="Arial"/>
              </a:rPr>
              <a:t>Порог уверенности поиска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86874-7254-4AC3-B8EB-75AD16F7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7D50D-331E-420D-B43E-9FA7771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670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2E3A"/>
                </a:solidFill>
                <a:latin typeface="Arial"/>
                <a:ea typeface="Arial"/>
                <a:cs typeface="Arial"/>
              </a:rPr>
              <a:t>Цитаты до решения об ответе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179A2-0ACE-4676-8206-0B5DC04C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181A9-9420-4C9B-BCD9-FFED7E2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2E3A"/>
                </a:solidFill>
                <a:latin typeface="Arial"/>
                <a:ea typeface="Arial"/>
                <a:cs typeface="Arial"/>
              </a:rPr>
              <a:t>Сверка цитаты с документом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A4FE2-70EC-49AB-85EE-130D5AF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361C3-898A-4B92-815F-9A45CFC2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338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2E3A"/>
                </a:solidFill>
                <a:latin typeface="Arial"/>
                <a:ea typeface="Arial"/>
                <a:cs typeface="Arial"/>
              </a:rPr>
              <a:t>Проверка чисел и реквизитов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616D8-FE6E-4257-8852-D4218143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Если проверка не пройдена, Корсик предлагает обратиться к HR.</a:t>
            </a:r>
          </a:p>
        </p:txBody>
      </p:sp>
    </p:spTree>
    <p:extLst>
      <p:ext uri="{BB962C8B-B14F-4D97-AF65-F5344CB8AC3E}">
        <p14:creationId xmlns:p14="http://schemas.microsoft.com/office/powerpoint/2010/main" val="1360548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315CF-BE4E-4700-9E62-C5F67E2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РЕЗУЛЬТАТ ЗАМЕРА ИЗ РЕПОЗИТОРИЯ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A54D5-C6BE-48CB-96A4-1D4C7B45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Качество на размеченном наборе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6C961-13EF-466E-BC98-8E6031BA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8F235-EFEC-417A-A0D6-6B3E9F9717A6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52800"/>
              </a:tblGrid>
              <a:tr h="681038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4F7F6"/>
                      </a:solidFill>
                    </a:lnL>
                    <a:lnR w="19050">
                      <a:solidFill>
                        <a:srgbClr val="F4F7F6"/>
                      </a:solidFill>
                    </a:lnR>
                    <a:lnT w="19050">
                      <a:solidFill>
                        <a:srgbClr val="F4F7F6"/>
                      </a:solidFill>
                    </a:lnT>
                    <a:lnB w="19050">
                      <a:solidFill>
                        <a:srgbClr val="F4F7F6"/>
                      </a:solidFill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4F7F6"/>
                      </a:solidFill>
                    </a:lnR>
                    <a:lnT w="19050">
                      <a:solidFill>
                        <a:srgbClr val="F4F7F6"/>
                      </a:solidFill>
                    </a:lnT>
                    <a:lnB w="19050">
                      <a:solidFill>
                        <a:srgbClr val="F4F7F6"/>
                      </a:solidFill>
                    </a:lnB>
                    <a:solidFill>
                      <a:srgbClr val="0B2E3A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B2E3A"/>
                          </a:solidFill>
                          <a:latin typeface="Arial"/>
                          <a:ea typeface="Arial"/>
                          <a:cs typeface="Arial"/>
                        </a:rPr>
                        <a:t>Верные ответы по базе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4F7F6"/>
                      </a:solidFill>
                    </a:lnL>
                    <a:lnR w="19050">
                      <a:solidFill>
                        <a:srgbClr val="F4F7F6"/>
                      </a:solidFill>
                    </a:lnR>
                    <a:lnB w="19050">
                      <a:solidFill>
                        <a:srgbClr val="F4F7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B2E3A"/>
                          </a:solidFill>
                          <a:latin typeface="Arial"/>
                          <a:ea typeface="Arial"/>
                          <a:cs typeface="Arial"/>
                        </a:rPr>
                        <a:t>29 / 30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4F7F6"/>
                      </a:solidFill>
                    </a:lnR>
                    <a:lnB w="19050">
                      <a:solidFill>
                        <a:srgbClr val="F4F7F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B2E3A"/>
                          </a:solidFill>
                          <a:latin typeface="Arial"/>
                          <a:ea typeface="Arial"/>
                          <a:cs typeface="Arial"/>
                        </a:rPr>
                        <a:t>Ложные ответы вне базы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4F7F6"/>
                      </a:solidFill>
                    </a:lnL>
                    <a:lnR w="19050">
                      <a:solidFill>
                        <a:srgbClr val="F4F7F6"/>
                      </a:solidFill>
                    </a:lnR>
                    <a:lnB w="19050">
                      <a:solidFill>
                        <a:srgbClr val="F4F7F6"/>
                      </a:solidFill>
                    </a:lnB>
                    <a:solidFill>
                      <a:srgbClr val="E6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B2E3A"/>
                          </a:solidFill>
                          <a:latin typeface="Arial"/>
                          <a:ea typeface="Arial"/>
                          <a:cs typeface="Arial"/>
                        </a:rPr>
                        <a:t>0 / 12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4F7F6"/>
                      </a:solidFill>
                    </a:lnR>
                    <a:lnB w="19050">
                      <a:solidFill>
                        <a:srgbClr val="F4F7F6"/>
                      </a:solidFill>
                    </a:lnB>
                    <a:solidFill>
                      <a:srgbClr val="E6EEEB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B2E3A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на CPU</a:t>
                      </a:r>
                    </a:p>
                  </a:txBody>
                  <a:tcPr marL="91440" marR="91440" marT="45720" marB="45720">
                    <a:lnL w="19050">
                      <a:solidFill>
                        <a:srgbClr val="F4F7F6"/>
                      </a:solidFill>
                    </a:lnL>
                    <a:lnR w="19050">
                      <a:solidFill>
                        <a:srgbClr val="F4F7F6"/>
                      </a:solidFill>
                    </a:lnR>
                    <a:lnB w="19050">
                      <a:solidFill>
                        <a:srgbClr val="F4F7F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B2E3A"/>
                          </a:solidFill>
                          <a:latin typeface="Arial"/>
                          <a:ea typeface="Arial"/>
                          <a:cs typeface="Arial"/>
                        </a:rPr>
                        <a:t>30,5 с</a:t>
                      </a:r>
                    </a:p>
                  </a:txBody>
                  <a:tcPr marL="91440" marR="91440" marT="45720" marB="45720">
                    <a:lnR w="19050">
                      <a:solidFill>
                        <a:srgbClr val="F4F7F6"/>
                      </a:solidFill>
                    </a:lnR>
                    <a:lnB w="19050">
                      <a:solidFill>
                        <a:srgbClr val="F4F7F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EC23-9BF2-4322-A3F6-23A2C9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Предыдущий прогон: 26 / 30. Набор небольшой, результат меняется.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E5614-CB2E-4E94-9AF5-B7AF278C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Источник: backend/eval/results.md и README. Ryzen 9 5900X, без GPU.</a:t>
            </a:r>
          </a:p>
        </p:txBody>
      </p:sp>
    </p:spTree>
    <p:extLst>
      <p:ext uri="{BB962C8B-B14F-4D97-AF65-F5344CB8AC3E}">
        <p14:creationId xmlns:p14="http://schemas.microsoft.com/office/powerpoint/2010/main" val="1101160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954EB-CF54-4899-8F5F-8B2A0C3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ПРИВАТНОСТЬ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D93C8-ADDE-41CB-BCBD-ABC7432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Доступ к ответам сотрудников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51635-3DA9-433E-A40F-A1A2429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EF1DB-C393-4D2E-90CC-33BEC4E7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HR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DC807-B30A-43D8-AD2E-E46F946C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Обращение и 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520C8-9426-4C3F-809C-71EC1026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47950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Ответ сотруднику из панели или через подключённый MAX.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FBC6F-445D-41CE-B969-82B8C8D1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AE1AC-CCC4-42C3-9480-85B24BC4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528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Рекомендации по своим новичкам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F9C7E-519E-48C5-B1EE-7C7CABA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10025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Свободные ответы и сигналы о самом руководителе скрыты.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E3AF9-A621-4A7F-B7CC-48A5E7A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Корпоративный вход и личные учётные записи: дорожная карта.</a:t>
            </a:r>
          </a:p>
        </p:txBody>
      </p:sp>
    </p:spTree>
    <p:extLst>
      <p:ext uri="{BB962C8B-B14F-4D97-AF65-F5344CB8AC3E}">
        <p14:creationId xmlns:p14="http://schemas.microsoft.com/office/powerpoint/2010/main" val="984773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8742A-8A79-450F-B3E6-7402CD49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99E47-9580-47DD-978E-78B490E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Локальный контур обработки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359B9-5908-4D6F-B4FC-B5BA21B0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B2D28-D32C-4943-9D58-E9650A6A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FD2F1-421B-494F-AABA-4D75205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240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Общий движок диалога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C37AF-FF4D-4BF8-9E98-316195D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81275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Сценарий, опросы, обращения и планировщик сообщений.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0788D-4799-4AFA-AA37-18DF9243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646F9-8311-49CE-A292-D7D7E320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Модели внутри инфраструктуры компании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4DD9B-571A-40FB-B1F6-8023B72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86200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Поиск по документам, генерация ответа и распознавание сканов.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C4A26-6485-461E-8D00-6A15BA4C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MAX остаётся внешним каналом доставки сообщений.</a:t>
            </a:r>
          </a:p>
        </p:txBody>
      </p:sp>
    </p:spTree>
    <p:extLst>
      <p:ext uri="{BB962C8B-B14F-4D97-AF65-F5344CB8AC3E}">
        <p14:creationId xmlns:p14="http://schemas.microsoft.com/office/powerpoint/2010/main" val="352296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C5BD8-53F2-4717-A922-0B7DDCD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ЧТО ИЗВЕСТНО СЕГОДНЯ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63002-E1F6-4E21-8551-380F86C2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Эффект и затраты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D2BF3-BEC7-4BA2-8465-F749CB3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02AC8-DEE6-4B8B-9468-E46AE72F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14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≈15 ГБ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44BC4-DE25-437D-A832-E1768E97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143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ОЗУ сервисов ИИ во время eval</a:t>
            </a:r>
          </a:p>
          <a:p xmlns:a="http://schemas.openxmlformats.org/drawingml/2006/main">
            <a:pPr>
              <a:defRPr sz="20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Источник: README, docker stats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A990D-F24F-4D73-8A29-62A9258E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5010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Экономию времени HR</a:t>
            </a:r>
          </a:p>
          <a:p xmlns:a="http://schemas.openxmlformats.org/drawingml/2006/main">
            <a:pPr>
              <a:defRPr sz="30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измерим на пилоте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4225E-9EE5-4A49-9405-84BB27F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95725"/>
            <a:ext cx="5010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Сервер, сопровождение и</a:t>
            </a:r>
          </a:p>
          <a:p xmlns:a="http://schemas.openxmlformats.org/drawingml/2006/main">
            <a: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обновление документов</a:t>
            </a:r>
          </a:p>
          <a:p xmlns:a="http://schemas.openxmlformats.org/drawingml/2006/main">
            <a:pPr>
              <a:defRPr sz="217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входят в стоимость владения.</a:t>
            </a:r>
          </a:p>
        </p:txBody>
      </p:sp>
    </p:spTree>
    <p:extLst>
      <p:ext uri="{BB962C8B-B14F-4D97-AF65-F5344CB8AC3E}">
        <p14:creationId xmlns:p14="http://schemas.microsoft.com/office/powerpoint/2010/main" val="1450565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F8FA8-A70E-4373-B233-1A7A3E8D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45E81-3157-4865-979E-8847EFE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План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03662-3709-4AE4-AA5C-2DE6ED4E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CA3E-06D6-418F-A9D2-FBC63DAF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42D6E-ADD1-4DCE-8DE4-FF449900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145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До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97E62-10BB-4780-9BAC-77D48174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Согласовать группу, документы, доступы и правила обработки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062AB-FF22-4B84-8C91-DEBA731E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FF363-4296-40A0-83B4-5068A6C7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385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Во время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CD507-692A-4DAB-838B-8C0FC439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95725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Измерять качество ответов, отказы, ожидание и время HR.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6C35F-51C2-454A-AAB0-CF6D70FA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Срок, целевые значения и критерий успеха согласуем с заказчиком.</a:t>
            </a:r>
          </a:p>
        </p:txBody>
      </p:sp>
    </p:spTree>
    <p:extLst>
      <p:ext uri="{BB962C8B-B14F-4D97-AF65-F5344CB8AC3E}">
        <p14:creationId xmlns:p14="http://schemas.microsoft.com/office/powerpoint/2010/main" val="1367525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DD598-E6C8-4466-A6F4-3DBCBE37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D4639-B160-4828-9DE1-7CC17632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Следующая стадия продукта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11742-0FFF-4560-A38A-AB59247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4EAB8-3203-4086-B3E8-5823822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C6288-209C-4B33-8F87-1F0FE494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145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Доступ и интеграция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35110-F66F-427E-BE80-BEB3EAD2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Корпоративный вход, права пользователей, живой прогон MAX.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EB626-D706-4746-88FF-6F01366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3CA0B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CA0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299D9-3B06-44C0-9E50-F1D7AFA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575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Доставка и восстановление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5E837-7A6B-4E93-9DCF-96C19192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14775"/>
            <a:ext cx="9525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Сохранение событий, защита от дублей, миграции и резервные копии.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C615A-7DB5-4382-92E6-C1EAC80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Скорость и нагрузку проверим на машине будущего развёртывания.</a:t>
            </a:r>
          </a:p>
        </p:txBody>
      </p:sp>
    </p:spTree>
    <p:extLst>
      <p:ext uri="{BB962C8B-B14F-4D97-AF65-F5344CB8AC3E}">
        <p14:creationId xmlns:p14="http://schemas.microsoft.com/office/powerpoint/2010/main" val="680088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00C34-F008-486E-B512-490F465B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16972"/>
                </a:solidFill>
                <a:latin typeface="Arial"/>
                <a:ea typeface="Arial"/>
                <a:cs typeface="Arial"/>
              </a:rPr>
              <a:t>РАСКРЫТИЕ ПО ПРАВИЛАМ ХАКАТОНА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952BD-4924-44CC-994D-4EF75877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Использование 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87903-1967-4322-95F7-8C7673D7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КОРСИК   /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F9855-7106-4F52-9EA8-2C652E39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При разработке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33102-85F6-4BAD-A8EF-40D262DD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143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Claude Code и Codex</a:t>
            </a:r>
          </a:p>
          <a:p xmlns:a="http://schemas.openxmlformats.org/drawingml/2006/main">
            <a: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Код и материалы проверяет команда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B90A6-6DA6-4C34-8F91-EF6B3237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2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2E3A"/>
                </a:solidFill>
                <a:latin typeface="Arial"/>
                <a:ea typeface="Arial"/>
                <a:cs typeface="Arial"/>
              </a:rPr>
              <a:t>Внутри продукта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2B8D5-2193-461C-91D8-ABCB88DD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5010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GigaChat 3.1 Lightning</a:t>
            </a:r>
          </a:p>
          <a:p xmlns:a="http://schemas.openxmlformats.org/drawingml/2006/main">
            <a: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BGE-M3 и BGE reranker</a:t>
            </a:r>
          </a:p>
          <a:p xmlns:a="http://schemas.openxmlformats.org/drawingml/2006/main">
            <a:pPr>
              <a:defRPr sz="22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Docling и Tesseract OCR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60299-F852-414E-BEB0-81B15859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169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972"/>
                </a:solidFill>
                <a:latin typeface="Arial"/>
                <a:ea typeface="Arial"/>
                <a:cs typeface="Arial"/>
              </a:rPr>
              <a:t>Тексты сценария из ТЗ. Изображения MVP: шаблоны для замены.</a:t>
            </a:r>
          </a:p>
        </p:txBody>
      </p:sp>
    </p:spTree>
    <p:extLst>
      <p:ext uri="{BB962C8B-B14F-4D97-AF65-F5344CB8AC3E}">
        <p14:creationId xmlns:p14="http://schemas.microsoft.com/office/powerpoint/2010/main" val="2133871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E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8A2C7-7C3A-4653-BB66-95EBDA7F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CE39"/>
                </a:solidFill>
                <a:latin typeface="Arial"/>
                <a:ea typeface="Arial"/>
                <a:cs typeface="Arial"/>
              </a:rPr>
              <a:t>РАБОТАЮЩИЙ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A4FDD-FC79-4BF1-94C9-CFF01A9E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Корсик готов к следующему шагу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6454E-A962-4AF1-845A-19B5DE2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6CE39"/>
                </a:solidFill>
                <a:latin typeface="Arial"/>
                <a:ea typeface="Arial"/>
                <a:cs typeface="Arial"/>
              </a:rPr>
              <a:t>КОРСИК   /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79A6B-2E65-4B36-939F-09B5613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адаптации.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Ответ с источником.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Помощь живого HR.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85BE3-E9B1-4FCD-A490-972331EF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A6CE3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A6CE39"/>
                </a:solidFill>
                <a:latin typeface="Arial"/>
                <a:ea typeface="Arial"/>
                <a:cs typeface="Arial"/>
              </a:rPr>
              <a:t>Следующий шаг: согласовать пилот и критерии успеха.</a:t>
            </a:r>
          </a:p>
        </p:txBody>
      </p:sp>
    </p:spTree>
    <p:extLst>
      <p:ext uri="{BB962C8B-B14F-4D97-AF65-F5344CB8AC3E}">
        <p14:creationId xmlns:p14="http://schemas.microsoft.com/office/powerpoint/2010/main" val="1944752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Stepan</dc:creator>
  <ns0:lastModifiedBy>Stepan</ns0:lastModifiedBy>
  <dc:title>Корсик — защита MVP</dc:title>
  <ns2:created xsi:type="dcterms:W3CDTF">2026-10-24T08:15:58.0350000Z</ns2:created>
  <ns2:modified xsi:type="dcterms:W3CDTF">2026-10-24T08:15:58.0350000Z</ns2:modified>
</ns0:coreProperties>
</file>